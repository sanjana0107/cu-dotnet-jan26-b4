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034378-BF0F-4E1A-B614-87831DC5C9FB}" v="6" dt="2026-05-01T23:45:14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noor Oberoi" userId="ea9bbb4179ae84ac" providerId="LiveId" clId="{B7F27481-9C71-4299-8402-3F41AD2283F7}"/>
    <pc:docChg chg="undo custSel modSld">
      <pc:chgData name="Gurnoor Oberoi" userId="ea9bbb4179ae84ac" providerId="LiveId" clId="{B7F27481-9C71-4299-8402-3F41AD2283F7}" dt="2026-05-01T23:46:18.814" v="106" actId="20577"/>
      <pc:docMkLst>
        <pc:docMk/>
      </pc:docMkLst>
      <pc:sldChg chg="addSp delSp modSp mod">
        <pc:chgData name="Gurnoor Oberoi" userId="ea9bbb4179ae84ac" providerId="LiveId" clId="{B7F27481-9C71-4299-8402-3F41AD2283F7}" dt="2026-05-01T23:45:35.452" v="61" actId="20577"/>
        <pc:sldMkLst>
          <pc:docMk/>
          <pc:sldMk cId="0" sldId="256"/>
        </pc:sldMkLst>
        <pc:spChg chg="mod">
          <ac:chgData name="Gurnoor Oberoi" userId="ea9bbb4179ae84ac" providerId="LiveId" clId="{B7F27481-9C71-4299-8402-3F41AD2283F7}" dt="2026-05-01T23:42:57.462" v="4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urnoor Oberoi" userId="ea9bbb4179ae84ac" providerId="LiveId" clId="{B7F27481-9C71-4299-8402-3F41AD2283F7}" dt="2026-05-01T23:44:48.689" v="58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urnoor Oberoi" userId="ea9bbb4179ae84ac" providerId="LiveId" clId="{B7F27481-9C71-4299-8402-3F41AD2283F7}" dt="2026-05-01T23:45:35.452" v="61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urnoor Oberoi" userId="ea9bbb4179ae84ac" providerId="LiveId" clId="{B7F27481-9C71-4299-8402-3F41AD2283F7}" dt="2026-05-01T23:24:52.351" v="21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urnoor Oberoi" userId="ea9bbb4179ae84ac" providerId="LiveId" clId="{B7F27481-9C71-4299-8402-3F41AD2283F7}" dt="2026-05-01T23:24:36.478" v="17" actId="20577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Gurnoor Oberoi" userId="ea9bbb4179ae84ac" providerId="LiveId" clId="{B7F27481-9C71-4299-8402-3F41AD2283F7}" dt="2026-05-01T23:44:35.405" v="56" actId="255"/>
          <ac:spMkLst>
            <pc:docMk/>
            <pc:sldMk cId="0" sldId="256"/>
            <ac:spMk id="17" creationId="{2DFAFE01-AB17-6AC5-D979-C4EB52A6177B}"/>
          </ac:spMkLst>
        </pc:spChg>
        <pc:picChg chg="add del mod">
          <ac:chgData name="Gurnoor Oberoi" userId="ea9bbb4179ae84ac" providerId="LiveId" clId="{B7F27481-9C71-4299-8402-3F41AD2283F7}" dt="2026-05-01T23:27:35.402" v="46" actId="1076"/>
          <ac:picMkLst>
            <pc:docMk/>
            <pc:sldMk cId="0" sldId="256"/>
            <ac:picMk id="7" creationId="{00000000-0000-0000-0000-000000000000}"/>
          </ac:picMkLst>
        </pc:picChg>
      </pc:sldChg>
      <pc:sldChg chg="modSp mod">
        <pc:chgData name="Gurnoor Oberoi" userId="ea9bbb4179ae84ac" providerId="LiveId" clId="{B7F27481-9C71-4299-8402-3F41AD2283F7}" dt="2026-05-01T23:46:18.814" v="106" actId="20577"/>
        <pc:sldMkLst>
          <pc:docMk/>
          <pc:sldMk cId="0" sldId="267"/>
        </pc:sldMkLst>
        <pc:spChg chg="mod">
          <ac:chgData name="Gurnoor Oberoi" userId="ea9bbb4179ae84ac" providerId="LiveId" clId="{B7F27481-9C71-4299-8402-3F41AD2283F7}" dt="2026-05-01T23:46:18.814" v="106" actId="20577"/>
          <ac:spMkLst>
            <pc:docMk/>
            <pc:sldMk cId="0" sldId="26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3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E5FA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0" y="3474720"/>
            <a:ext cx="1097280" cy="1097280"/>
          </a:xfrm>
          <a:prstGeom prst="ellipse">
            <a:avLst/>
          </a:prstGeom>
          <a:solidFill>
            <a:srgbClr val="2E85D4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03720" y="137160"/>
            <a:ext cx="2011680" cy="1920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646" y="114300"/>
            <a:ext cx="2107474" cy="201168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320040"/>
            <a:ext cx="192024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320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CAPGEMINI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0058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ChaloSamundar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65760" y="2148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2788920"/>
            <a:ext cx="1828800" cy="907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0D9488"/>
                </a:solidFill>
                <a:latin typeface="Calibri" pitchFamily="34" charset="0"/>
              </a:rPr>
              <a:t>• 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</a:rPr>
              <a:t>Aditya Bhardwaj</a:t>
            </a:r>
          </a:p>
          <a:p>
            <a:r>
              <a:rPr lang="en-US" sz="1400" dirty="0">
                <a:solidFill>
                  <a:srgbClr val="0D9488"/>
                </a:solidFill>
                <a:latin typeface="Calibri" pitchFamily="34" charset="0"/>
              </a:rPr>
              <a:t>• 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</a:rPr>
              <a:t>Anjali</a:t>
            </a:r>
          </a:p>
          <a:p>
            <a:r>
              <a:rPr lang="en-US" sz="1400" dirty="0">
                <a:solidFill>
                  <a:srgbClr val="0D9488"/>
                </a:solidFill>
                <a:latin typeface="Calibri" pitchFamily="34" charset="0"/>
              </a:rPr>
              <a:t>• 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</a:rPr>
              <a:t>Ishaan Bansal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65760" y="4572000"/>
            <a:ext cx="50292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Academic Project  |  Capgemini Training Program  |  2026</a:t>
            </a:r>
          </a:p>
        </p:txBody>
      </p:sp>
      <p:sp>
        <p:nvSpPr>
          <p:cNvPr id="15" name="Text 12"/>
          <p:cNvSpPr/>
          <p:nvPr/>
        </p:nvSpPr>
        <p:spPr>
          <a:xfrm>
            <a:off x="5394960" y="4572000"/>
            <a:ext cx="35661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FAFE01-AB17-6AC5-D979-C4EB52A6177B}"/>
              </a:ext>
            </a:extLst>
          </p:cNvPr>
          <p:cNvSpPr txBox="1"/>
          <p:nvPr/>
        </p:nvSpPr>
        <p:spPr>
          <a:xfrm>
            <a:off x="2377440" y="2743200"/>
            <a:ext cx="2667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D9488"/>
                </a:solidFill>
                <a:latin typeface="Calibri" pitchFamily="34" charset="0"/>
              </a:rPr>
              <a:t>• 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</a:rPr>
              <a:t>Gurnoor Oberoi</a:t>
            </a:r>
          </a:p>
          <a:p>
            <a:r>
              <a:rPr lang="en-US" sz="1400" dirty="0">
                <a:solidFill>
                  <a:srgbClr val="0D9488"/>
                </a:solidFill>
                <a:latin typeface="Calibri" pitchFamily="34" charset="0"/>
              </a:rPr>
              <a:t>• 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</a:rPr>
              <a:t>Sanjana Singh</a:t>
            </a:r>
          </a:p>
          <a:p>
            <a:r>
              <a:rPr lang="en-US" sz="1400" dirty="0">
                <a:solidFill>
                  <a:srgbClr val="0D9488"/>
                </a:solidFill>
                <a:latin typeface="Calibri" pitchFamily="34" charset="0"/>
              </a:rPr>
              <a:t>•  </a:t>
            </a:r>
            <a:r>
              <a:rPr lang="en-US" sz="1400" dirty="0">
                <a:solidFill>
                  <a:srgbClr val="E8EDF5"/>
                </a:solidFill>
                <a:latin typeface="Calibri" pitchFamily="34" charset="0"/>
              </a:rPr>
              <a:t>Upkaar Malik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</a:rPr>
              <a:t>Table of Contents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05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5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01</a:t>
            </a:r>
          </a:p>
        </p:txBody>
      </p:sp>
      <p:sp>
        <p:nvSpPr>
          <p:cNvPr id="8" name="Text 6"/>
          <p:cNvSpPr/>
          <p:nvPr/>
        </p:nvSpPr>
        <p:spPr>
          <a:xfrm>
            <a:off x="980000" y="110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Project Overview</a:t>
            </a:r>
          </a:p>
        </p:txBody>
      </p:sp>
      <p:sp>
        <p:nvSpPr>
          <p:cNvPr id="9" name="Text 7"/>
          <p:cNvSpPr/>
          <p:nvPr/>
        </p:nvSpPr>
        <p:spPr>
          <a:xfrm>
            <a:off x="980000" y="149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Goals, scope, and platform summary</a:t>
            </a:r>
          </a:p>
        </p:txBody>
      </p:sp>
      <p:sp>
        <p:nvSpPr>
          <p:cNvPr id="10" name="Shape 8"/>
          <p:cNvSpPr/>
          <p:nvPr/>
        </p:nvSpPr>
        <p:spPr>
          <a:xfrm>
            <a:off x="3220000" y="105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20000" y="105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20000" y="105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02</a:t>
            </a:r>
          </a:p>
        </p:txBody>
      </p:sp>
      <p:sp>
        <p:nvSpPr>
          <p:cNvPr id="13" name="Text 11"/>
          <p:cNvSpPr/>
          <p:nvPr/>
        </p:nvSpPr>
        <p:spPr>
          <a:xfrm>
            <a:off x="3835000" y="110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System Architecture</a:t>
            </a:r>
          </a:p>
        </p:txBody>
      </p:sp>
      <p:sp>
        <p:nvSpPr>
          <p:cNvPr id="14" name="Text 12"/>
          <p:cNvSpPr/>
          <p:nvPr/>
        </p:nvSpPr>
        <p:spPr>
          <a:xfrm>
            <a:off x="3835000" y="149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Gateway-fronted microservices pattern</a:t>
            </a:r>
          </a:p>
        </p:txBody>
      </p:sp>
      <p:sp>
        <p:nvSpPr>
          <p:cNvPr id="15" name="Shape 13"/>
          <p:cNvSpPr/>
          <p:nvPr/>
        </p:nvSpPr>
        <p:spPr>
          <a:xfrm>
            <a:off x="6080000" y="105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0000" y="105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80000" y="105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03</a:t>
            </a:r>
          </a:p>
        </p:txBody>
      </p:sp>
      <p:sp>
        <p:nvSpPr>
          <p:cNvPr id="18" name="Text 16"/>
          <p:cNvSpPr/>
          <p:nvPr/>
        </p:nvSpPr>
        <p:spPr>
          <a:xfrm>
            <a:off x="6695000" y="110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Microservices Breakdown</a:t>
            </a:r>
          </a:p>
        </p:txBody>
      </p:sp>
      <p:sp>
        <p:nvSpPr>
          <p:cNvPr id="19" name="Text 17"/>
          <p:cNvSpPr/>
          <p:nvPr/>
        </p:nvSpPr>
        <p:spPr>
          <a:xfrm>
            <a:off x="6695000" y="149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Six core services explained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223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23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23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04</a:t>
            </a:r>
          </a:p>
        </p:txBody>
      </p:sp>
      <p:sp>
        <p:nvSpPr>
          <p:cNvPr id="23" name="Text 21"/>
          <p:cNvSpPr/>
          <p:nvPr/>
        </p:nvSpPr>
        <p:spPr>
          <a:xfrm>
            <a:off x="980000" y="228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Tech Stack</a:t>
            </a:r>
          </a:p>
        </p:txBody>
      </p:sp>
      <p:sp>
        <p:nvSpPr>
          <p:cNvPr id="24" name="Text 22"/>
          <p:cNvSpPr/>
          <p:nvPr/>
        </p:nvSpPr>
        <p:spPr>
          <a:xfrm>
            <a:off x="980000" y="267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Technologies and frameworks used</a:t>
            </a:r>
          </a:p>
        </p:txBody>
      </p:sp>
      <p:sp>
        <p:nvSpPr>
          <p:cNvPr id="25" name="Shape 23"/>
          <p:cNvSpPr/>
          <p:nvPr/>
        </p:nvSpPr>
        <p:spPr>
          <a:xfrm>
            <a:off x="3220000" y="223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20000" y="223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20000" y="223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05</a:t>
            </a:r>
          </a:p>
        </p:txBody>
      </p:sp>
      <p:sp>
        <p:nvSpPr>
          <p:cNvPr id="28" name="Text 26"/>
          <p:cNvSpPr/>
          <p:nvPr/>
        </p:nvSpPr>
        <p:spPr>
          <a:xfrm>
            <a:off x="3835000" y="228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Key Highlights</a:t>
            </a:r>
          </a:p>
        </p:txBody>
      </p:sp>
      <p:sp>
        <p:nvSpPr>
          <p:cNvPr id="29" name="Text 27"/>
          <p:cNvSpPr/>
          <p:nvPr/>
        </p:nvSpPr>
        <p:spPr>
          <a:xfrm>
            <a:off x="3835000" y="267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Design principles and achievements</a:t>
            </a:r>
          </a:p>
        </p:txBody>
      </p:sp>
      <p:sp>
        <p:nvSpPr>
          <p:cNvPr id="30" name="Shape 28"/>
          <p:cNvSpPr/>
          <p:nvPr/>
        </p:nvSpPr>
        <p:spPr>
          <a:xfrm>
            <a:off x="6080000" y="223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000" y="223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000" y="223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06</a:t>
            </a:r>
          </a:p>
        </p:txBody>
      </p:sp>
      <p:sp>
        <p:nvSpPr>
          <p:cNvPr id="33" name="Text 31"/>
          <p:cNvSpPr/>
          <p:nvPr/>
        </p:nvSpPr>
        <p:spPr>
          <a:xfrm>
            <a:off x="6695000" y="228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User Journey &amp; Data Flow</a:t>
            </a:r>
          </a:p>
        </p:txBody>
      </p:sp>
      <p:sp>
        <p:nvSpPr>
          <p:cNvPr id="34" name="Text 32"/>
          <p:cNvSpPr/>
          <p:nvPr/>
        </p:nvSpPr>
        <p:spPr>
          <a:xfrm>
            <a:off x="6695000" y="267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Step-by-step booking flow</a:t>
            </a:r>
          </a:p>
        </p:txBody>
      </p:sp>
      <p:sp>
        <p:nvSpPr>
          <p:cNvPr id="35" name="Shape 33"/>
          <p:cNvSpPr/>
          <p:nvPr/>
        </p:nvSpPr>
        <p:spPr>
          <a:xfrm>
            <a:off x="365760" y="341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65760" y="341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5760" y="341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07</a:t>
            </a:r>
          </a:p>
        </p:txBody>
      </p:sp>
      <p:sp>
        <p:nvSpPr>
          <p:cNvPr id="38" name="Text 36"/>
          <p:cNvSpPr/>
          <p:nvPr/>
        </p:nvSpPr>
        <p:spPr>
          <a:xfrm>
            <a:off x="980000" y="346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Challenges &amp; Solutions</a:t>
            </a:r>
          </a:p>
        </p:txBody>
      </p:sp>
      <p:sp>
        <p:nvSpPr>
          <p:cNvPr id="39" name="Text 37"/>
          <p:cNvSpPr/>
          <p:nvPr/>
        </p:nvSpPr>
        <p:spPr>
          <a:xfrm>
            <a:off x="980000" y="385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Problems faced and how we solved them</a:t>
            </a:r>
          </a:p>
        </p:txBody>
      </p:sp>
      <p:sp>
        <p:nvSpPr>
          <p:cNvPr id="40" name="Shape 38"/>
          <p:cNvSpPr/>
          <p:nvPr/>
        </p:nvSpPr>
        <p:spPr>
          <a:xfrm>
            <a:off x="3220000" y="341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220000" y="341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20000" y="341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08</a:t>
            </a:r>
          </a:p>
        </p:txBody>
      </p:sp>
      <p:sp>
        <p:nvSpPr>
          <p:cNvPr id="43" name="Text 41"/>
          <p:cNvSpPr/>
          <p:nvPr/>
        </p:nvSpPr>
        <p:spPr>
          <a:xfrm>
            <a:off x="3835000" y="346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Future Scope</a:t>
            </a:r>
          </a:p>
        </p:txBody>
      </p:sp>
      <p:sp>
        <p:nvSpPr>
          <p:cNvPr id="44" name="Text 42"/>
          <p:cNvSpPr/>
          <p:nvPr/>
        </p:nvSpPr>
        <p:spPr>
          <a:xfrm>
            <a:off x="3835000" y="385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Enhancements and next phases</a:t>
            </a:r>
          </a:p>
        </p:txBody>
      </p:sp>
      <p:sp>
        <p:nvSpPr>
          <p:cNvPr id="45" name="Shape 43"/>
          <p:cNvSpPr/>
          <p:nvPr/>
        </p:nvSpPr>
        <p:spPr>
          <a:xfrm>
            <a:off x="6080000" y="3410000"/>
            <a:ext cx="27000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080000" y="3410000"/>
            <a:ext cx="550000" cy="100584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080000" y="3410000"/>
            <a:ext cx="55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09</a:t>
            </a:r>
          </a:p>
        </p:txBody>
      </p:sp>
      <p:sp>
        <p:nvSpPr>
          <p:cNvPr id="48" name="Text 46"/>
          <p:cNvSpPr/>
          <p:nvPr/>
        </p:nvSpPr>
        <p:spPr>
          <a:xfrm>
            <a:off x="6695000" y="3460000"/>
            <a:ext cx="205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</a:rPr>
              <a:t>Conclusion</a:t>
            </a:r>
          </a:p>
        </p:txBody>
      </p:sp>
      <p:sp>
        <p:nvSpPr>
          <p:cNvPr id="49" name="Text 47"/>
          <p:cNvSpPr/>
          <p:nvPr/>
        </p:nvSpPr>
        <p:spPr>
          <a:xfrm>
            <a:off x="6695000" y="3850000"/>
            <a:ext cx="205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8B3"/>
                </a:solidFill>
                <a:latin typeface="Calibri" pitchFamily="34" charset="0"/>
              </a:rPr>
              <a:t>Outcomes and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005840"/>
          </a:xfrm>
          <a:prstGeom prst="rect">
            <a:avLst/>
          </a:prstGeom>
          <a:solidFill>
            <a:srgbClr val="1A31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</a:rPr>
              <a:t>Microservices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560320" cy="1005840"/>
          </a:xfrm>
          <a:prstGeom prst="rect">
            <a:avLst/>
          </a:prstGeom>
          <a:solidFill>
            <a:srgbClr val="1A31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0" y="10515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162763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</a:rPr>
              <a:t>Databases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560320" cy="1005840"/>
          </a:xfrm>
          <a:prstGeom prst="rect">
            <a:avLst/>
          </a:prstGeom>
          <a:solidFill>
            <a:srgbClr val="1A31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035040" y="162763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5"/>
                </a:solidFill>
              </a:rPr>
              <a:t>API Gateway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5029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73152" cy="2651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2677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ChaloSamundar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263347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 Full-stack cruise booking platform on .NET microservices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05409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Browse trips, plan itineraries &amp; select cabin types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47472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Secure booking flow with integrated payment 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895344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JWT-secured gateway with role-based access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431596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Operators manage trip catalogs &amp; cabin inventory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2286000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715000" y="2286000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09360" y="23408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160"/>
                </a:solidFill>
              </a:rPr>
              <a:t>Secure Auth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633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B3"/>
                </a:solidFill>
              </a:rPr>
              <a:t>JWT-based login and token management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154680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15000" y="3154680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09360" y="3209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160"/>
                </a:solidFill>
              </a:rPr>
              <a:t>Trip Catalog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5021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B3"/>
                </a:solidFill>
              </a:rPr>
              <a:t>Browse and filter cruise schedules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4023360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715000" y="4023360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09360" y="4078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160"/>
                </a:solidFill>
              </a:rPr>
              <a:t>Payments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370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B3"/>
                </a:solidFill>
              </a:rPr>
              <a:t>Integrated payment processing 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03504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5" name="Image 0" descr="/home/claude/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592" y="713232"/>
            <a:ext cx="6552815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Microservices Breakdown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91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8B3"/>
                </a:solidFill>
              </a:rPr>
              <a:t>(1 of 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64008" cy="11155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316736"/>
            <a:ext cx="640080" cy="640080"/>
          </a:xfrm>
          <a:prstGeom prst="ellipse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53312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1521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AuthService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69080" y="1207008"/>
            <a:ext cx="804672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069080" y="12070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80160" y="1508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registration, login, and JWT token issuance. Uses SQL Express with Entity Framework Core migrations for user data persistence.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93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199632" y="121615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User registration &amp; login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170078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99632" y="162763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JWT Bearer token issuance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0920" y="12893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525512" y="121615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EF Core migrations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60920" y="170078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525512" y="162763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SQL Express storage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2340864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20040" y="2340864"/>
            <a:ext cx="64008" cy="1115568"/>
          </a:xfrm>
          <a:prstGeom prst="rect">
            <a:avLst/>
          </a:prstGeom>
          <a:solidFill>
            <a:srgbClr val="2E85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02920" y="2578608"/>
            <a:ext cx="640080" cy="640080"/>
          </a:xfrm>
          <a:prstGeom prst="ellipse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615184"/>
            <a:ext cx="512064" cy="51206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280160" y="24140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TripService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4069080" y="2468880"/>
            <a:ext cx="804672" cy="256032"/>
          </a:xfrm>
          <a:prstGeom prst="rect">
            <a:avLst/>
          </a:prstGeom>
          <a:solidFill>
            <a:srgbClr val="2E85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4069080" y="24688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Catalog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280160" y="27706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full catalog of cruise trips, schedules, and pricing. Implements a strict layered architecture: Controllers → Services → Repositories.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035040" y="2551176"/>
            <a:ext cx="109728" cy="109728"/>
          </a:xfrm>
          <a:prstGeom prst="ellipse">
            <a:avLst/>
          </a:prstGeom>
          <a:solidFill>
            <a:srgbClr val="2E85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6199632" y="247802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Trip catalog management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035040" y="2962656"/>
            <a:ext cx="109728" cy="109728"/>
          </a:xfrm>
          <a:prstGeom prst="ellipse">
            <a:avLst/>
          </a:prstGeom>
          <a:solidFill>
            <a:srgbClr val="2E85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199632" y="288950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Pricing &amp; schedules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360920" y="2551176"/>
            <a:ext cx="109728" cy="109728"/>
          </a:xfrm>
          <a:prstGeom prst="ellipse">
            <a:avLst/>
          </a:prstGeom>
          <a:solidFill>
            <a:srgbClr val="2E85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7525512" y="247802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Layered architecture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7360920" y="2962656"/>
            <a:ext cx="109728" cy="109728"/>
          </a:xfrm>
          <a:prstGeom prst="ellipse">
            <a:avLst/>
          </a:prstGeom>
          <a:solidFill>
            <a:srgbClr val="2E85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7525512" y="288950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SQL Express storage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20040" y="3602736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5"/>
          <p:cNvSpPr/>
          <p:nvPr/>
        </p:nvSpPr>
        <p:spPr>
          <a:xfrm>
            <a:off x="320040" y="3602736"/>
            <a:ext cx="64008" cy="111556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6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77056"/>
            <a:ext cx="512064" cy="51206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1280160" y="3675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ItineraryService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4069080" y="3730752"/>
            <a:ext cx="804672" cy="25603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9"/>
          <p:cNvSpPr/>
          <p:nvPr/>
        </p:nvSpPr>
        <p:spPr>
          <a:xfrm>
            <a:off x="4069080" y="37307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Planning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280160" y="40325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customers plan multi-stop itineraries tied to a specific trip. Each itinerary entry is persisted in its own isolated SQL Express database.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6035040" y="3813048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2"/>
          <p:cNvSpPr/>
          <p:nvPr/>
        </p:nvSpPr>
        <p:spPr>
          <a:xfrm>
            <a:off x="6199632" y="373989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Multi-stop itinerary planning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035040" y="4224528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4"/>
          <p:cNvSpPr/>
          <p:nvPr/>
        </p:nvSpPr>
        <p:spPr>
          <a:xfrm>
            <a:off x="6199632" y="415137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Trip-linked itineraries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7360920" y="3813048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6"/>
          <p:cNvSpPr/>
          <p:nvPr/>
        </p:nvSpPr>
        <p:spPr>
          <a:xfrm>
            <a:off x="7525512" y="373989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Isolated SQL Express DB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360920" y="4224528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8"/>
          <p:cNvSpPr/>
          <p:nvPr/>
        </p:nvSpPr>
        <p:spPr>
          <a:xfrm>
            <a:off x="7525512" y="415137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CRUD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Microservices Breakdown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91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8B3"/>
                </a:solidFill>
              </a:rPr>
              <a:t>(2 of 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64008" cy="1115568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316736"/>
            <a:ext cx="640080" cy="640080"/>
          </a:xfrm>
          <a:prstGeom prst="ellipse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53312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1521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BookingService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69080" y="1207008"/>
            <a:ext cx="868680" cy="25603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069080" y="12070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Bookings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80160" y="1508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manages all booking records — customer details, selected trip, chosen cabin, booking status, and timestamps for each transaction.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9304"/>
            <a:ext cx="109728" cy="109728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199632" y="121615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Booking records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1700784"/>
            <a:ext cx="109728" cy="109728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99632" y="162763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Status tracking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0920" y="1289304"/>
            <a:ext cx="109728" cy="109728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525512" y="121615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Customer details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60920" y="1700784"/>
            <a:ext cx="109728" cy="109728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525512" y="1627632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Timestamps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2340864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20040" y="2340864"/>
            <a:ext cx="64008" cy="1115568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02920" y="2578608"/>
            <a:ext cx="640080" cy="640080"/>
          </a:xfrm>
          <a:prstGeom prst="ellipse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615184"/>
            <a:ext cx="512064" cy="51206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280160" y="24140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CabinService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4069080" y="2468880"/>
            <a:ext cx="868680" cy="256032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4069080" y="2468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Inventory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280160" y="27706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complete cabin catalog: cabin types (standard, deluxe, suite), occupancy limits, and real-time seat availability to prevent overbooking.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035040" y="2551176"/>
            <a:ext cx="109728" cy="109728"/>
          </a:xfrm>
          <a:prstGeom prst="ellipse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6199632" y="247802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Cabin type catalog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035040" y="2962656"/>
            <a:ext cx="109728" cy="109728"/>
          </a:xfrm>
          <a:prstGeom prst="ellipse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199632" y="288950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Occupancy limits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360920" y="2551176"/>
            <a:ext cx="109728" cy="109728"/>
          </a:xfrm>
          <a:prstGeom prst="ellipse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7525512" y="247802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Real-time availability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7360920" y="2962656"/>
            <a:ext cx="109728" cy="109728"/>
          </a:xfrm>
          <a:prstGeom prst="ellipse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7525512" y="288950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Overbooking prevention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20040" y="3602736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5"/>
          <p:cNvSpPr/>
          <p:nvPr/>
        </p:nvSpPr>
        <p:spPr>
          <a:xfrm>
            <a:off x="320040" y="3602736"/>
            <a:ext cx="64008" cy="111556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6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77056"/>
            <a:ext cx="512064" cy="51206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1280160" y="3675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PaymentService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4069080" y="3730752"/>
            <a:ext cx="868680" cy="2560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9"/>
          <p:cNvSpPr/>
          <p:nvPr/>
        </p:nvSpPr>
        <p:spPr>
          <a:xfrm>
            <a:off x="4069080" y="37307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Payments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280160" y="40325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payments for confirmed bookings. Uses a repository pattern with dedicated exception handling and SQL Express persistence for reliable financial records.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6035040" y="3813048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2"/>
          <p:cNvSpPr/>
          <p:nvPr/>
        </p:nvSpPr>
        <p:spPr>
          <a:xfrm>
            <a:off x="6199632" y="373989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Payment processing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035040" y="4224528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4"/>
          <p:cNvSpPr/>
          <p:nvPr/>
        </p:nvSpPr>
        <p:spPr>
          <a:xfrm>
            <a:off x="6199632" y="415137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Repository pattern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7360920" y="3813048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6"/>
          <p:cNvSpPr/>
          <p:nvPr/>
        </p:nvSpPr>
        <p:spPr>
          <a:xfrm>
            <a:off x="7525512" y="373989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Exception handling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360920" y="4224528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8"/>
          <p:cNvSpPr/>
          <p:nvPr/>
        </p:nvSpPr>
        <p:spPr>
          <a:xfrm>
            <a:off x="7525512" y="4151376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</a:rPr>
              <a:t>SQL Express persistence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86868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704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0972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API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103120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02920" y="2103120"/>
            <a:ext cx="54864" cy="530352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76072" y="2103120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1832" y="2103120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770632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02920" y="2770632"/>
            <a:ext cx="54864" cy="530352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76072" y="277063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41832" y="2770632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API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438144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02920" y="3438144"/>
            <a:ext cx="54864" cy="530352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76072" y="3438144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🔀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41832" y="3438144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YARP Reverse Proxy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105656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02920" y="4105656"/>
            <a:ext cx="54864" cy="530352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76072" y="4105656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41832" y="4105656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0" y="1051560"/>
            <a:ext cx="26517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200400" y="1051560"/>
            <a:ext cx="2651760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170432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950208" y="10972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Storage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383280" y="2103120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3383280" y="210312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456432" y="2103120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3822192" y="2103120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383280" y="2770632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3383280" y="2770632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3456432" y="277063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3822192" y="2770632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Express (per-service)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3383280" y="3438144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3383280" y="3438144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456432" y="3438144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🍃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3822192" y="3438144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(client-side)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383280" y="4105656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8"/>
          <p:cNvSpPr/>
          <p:nvPr/>
        </p:nvSpPr>
        <p:spPr>
          <a:xfrm>
            <a:off x="3383280" y="4105656"/>
            <a:ext cx="54864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/>
          <p:nvPr/>
        </p:nvSpPr>
        <p:spPr>
          <a:xfrm>
            <a:off x="3456432" y="4105656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3822192" y="4105656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Migrations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6080760" y="1051560"/>
            <a:ext cx="26517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2"/>
          <p:cNvSpPr/>
          <p:nvPr/>
        </p:nvSpPr>
        <p:spPr>
          <a:xfrm>
            <a:off x="6080760" y="1051560"/>
            <a:ext cx="2651760" cy="868680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170432"/>
            <a:ext cx="502920" cy="50292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830568" y="10972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&amp; Docs</a:t>
            </a:r>
            <a:endParaRPr lang="en-US" sz="1300" dirty="0"/>
          </a:p>
        </p:txBody>
      </p:sp>
      <p:sp>
        <p:nvSpPr>
          <p:cNvPr id="49" name="Shape 44"/>
          <p:cNvSpPr/>
          <p:nvPr/>
        </p:nvSpPr>
        <p:spPr>
          <a:xfrm>
            <a:off x="6263640" y="2103120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5"/>
          <p:cNvSpPr/>
          <p:nvPr/>
        </p:nvSpPr>
        <p:spPr>
          <a:xfrm>
            <a:off x="6263640" y="2103120"/>
            <a:ext cx="54864" cy="530352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6"/>
          <p:cNvSpPr/>
          <p:nvPr/>
        </p:nvSpPr>
        <p:spPr>
          <a:xfrm>
            <a:off x="6336792" y="2103120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🐳</a:t>
            </a:r>
            <a:endParaRPr lang="en-US" sz="1400" dirty="0"/>
          </a:p>
        </p:txBody>
      </p:sp>
      <p:sp>
        <p:nvSpPr>
          <p:cNvPr id="52" name="Text 47"/>
          <p:cNvSpPr/>
          <p:nvPr/>
        </p:nvSpPr>
        <p:spPr>
          <a:xfrm>
            <a:off x="6702552" y="2103120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(containers)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6263640" y="2770632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49"/>
          <p:cNvSpPr/>
          <p:nvPr/>
        </p:nvSpPr>
        <p:spPr>
          <a:xfrm>
            <a:off x="6263640" y="2770632"/>
            <a:ext cx="54864" cy="530352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0"/>
          <p:cNvSpPr/>
          <p:nvPr/>
        </p:nvSpPr>
        <p:spPr>
          <a:xfrm>
            <a:off x="6336792" y="277063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56" name="Text 51"/>
          <p:cNvSpPr/>
          <p:nvPr/>
        </p:nvSpPr>
        <p:spPr>
          <a:xfrm>
            <a:off x="6702552" y="2770632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100" dirty="0"/>
          </a:p>
        </p:txBody>
      </p:sp>
      <p:sp>
        <p:nvSpPr>
          <p:cNvPr id="57" name="Shape 52"/>
          <p:cNvSpPr/>
          <p:nvPr/>
        </p:nvSpPr>
        <p:spPr>
          <a:xfrm>
            <a:off x="6263640" y="3438144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3"/>
          <p:cNvSpPr/>
          <p:nvPr/>
        </p:nvSpPr>
        <p:spPr>
          <a:xfrm>
            <a:off x="6263640" y="3438144"/>
            <a:ext cx="54864" cy="530352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4"/>
          <p:cNvSpPr/>
          <p:nvPr/>
        </p:nvSpPr>
        <p:spPr>
          <a:xfrm>
            <a:off x="6336792" y="3438144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60" name="Text 55"/>
          <p:cNvSpPr/>
          <p:nvPr/>
        </p:nvSpPr>
        <p:spPr>
          <a:xfrm>
            <a:off x="6702552" y="3438144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deployment</a:t>
            </a:r>
            <a:endParaRPr lang="en-US" sz="1100" dirty="0"/>
          </a:p>
        </p:txBody>
      </p:sp>
      <p:sp>
        <p:nvSpPr>
          <p:cNvPr id="61" name="Shape 56"/>
          <p:cNvSpPr/>
          <p:nvPr/>
        </p:nvSpPr>
        <p:spPr>
          <a:xfrm>
            <a:off x="6263640" y="4105656"/>
            <a:ext cx="2286000" cy="530352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7"/>
          <p:cNvSpPr/>
          <p:nvPr/>
        </p:nvSpPr>
        <p:spPr>
          <a:xfrm>
            <a:off x="6263640" y="4105656"/>
            <a:ext cx="54864" cy="530352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6336792" y="4105656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64" name="Text 59"/>
          <p:cNvSpPr/>
          <p:nvPr/>
        </p:nvSpPr>
        <p:spPr>
          <a:xfrm>
            <a:off x="6702552" y="4105656"/>
            <a:ext cx="1801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Highlights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0392" y="107899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 Centralized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are protected by a single YARP API Gateway that validates JWT tokens before routing requests to downstream microservices. No auth logic is duplicated.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160520" cy="475488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107899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Database-per-Service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27632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microservice owns its dedicated SQL Express database. This isolation ensures independent deployability, prevents tight coupling, and enables each service to evolve its schema independently.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4160520" cy="475488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" y="29992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🏗️  Layered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service, a clean separation of Controllers → Services → Repositories is enforced. This maintains single responsibility and makes each layer independently testable.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99232"/>
            <a:ext cx="41605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00600" y="2999232"/>
            <a:ext cx="4160520" cy="47548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92040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30952" y="29992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🐳  Containerized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547872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Dockerized and independently deployable. This enables individual scaling of hot services (e.g., BookingService during peak times) without affecting others.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 &amp; Data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152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1338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Register / 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 up or logs in via AuthService. JWT token is issued and stored.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5808" y="1938528"/>
            <a:ext cx="146304" cy="0"/>
          </a:xfrm>
          <a:prstGeom prst="line">
            <a:avLst/>
          </a:prstGeom>
          <a:noFill/>
          <a:ln w="19050">
            <a:solidFill>
              <a:srgbClr val="8898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1078992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2743200" cy="457200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91840" y="1152144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91840" y="1152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75888" y="11338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🚢  Browse Trips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6276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browses cruise catalog served by TripService with schedules &amp; pricing.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61888" y="1938528"/>
            <a:ext cx="146304" cy="0"/>
          </a:xfrm>
          <a:prstGeom prst="line">
            <a:avLst/>
          </a:prstGeom>
          <a:noFill/>
          <a:ln w="19050">
            <a:solidFill>
              <a:srgbClr val="8898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26480" y="1078992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26480" y="1078992"/>
            <a:ext cx="2743200" cy="45720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0" y="1152144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17920" y="1152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01968" y="11338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🗺️  Plan Itinerary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162763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Multi-stop itinerary is created and linked to the selected trip via ItineraryService.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99232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2999232"/>
            <a:ext cx="2743200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3072384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30540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🛏️  Select Cabin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" y="354787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CabinService checks real-time availability and reserves the chosen cabin type.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35808" y="3858768"/>
            <a:ext cx="146304" cy="0"/>
          </a:xfrm>
          <a:prstGeom prst="line">
            <a:avLst/>
          </a:prstGeom>
          <a:noFill/>
          <a:ln w="19050">
            <a:solidFill>
              <a:srgbClr val="8898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00400" y="2999232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200400" y="2999232"/>
            <a:ext cx="2743200" cy="457200"/>
          </a:xfrm>
          <a:prstGeom prst="rect">
            <a:avLst/>
          </a:prstGeom>
          <a:solidFill>
            <a:srgbClr val="2E85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91840" y="3072384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9184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75888" y="30540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Book Ticket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10128" y="354787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BookingService creates a booking record with customer, trip, cabin and status info.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61888" y="3858768"/>
            <a:ext cx="146304" cy="0"/>
          </a:xfrm>
          <a:prstGeom prst="line">
            <a:avLst/>
          </a:prstGeom>
          <a:noFill/>
          <a:ln w="19050">
            <a:solidFill>
              <a:srgbClr val="8898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126480" y="2999232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26480" y="2999232"/>
            <a:ext cx="274320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217920" y="3072384"/>
            <a:ext cx="310896" cy="31089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21792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01968" y="30540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💳  Make Payment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36208" y="354787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 processes the transaction and updates booking status to confirmed.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2798064"/>
            <a:ext cx="0" cy="164592"/>
          </a:xfrm>
          <a:prstGeom prst="line">
            <a:avLst/>
          </a:prstGeom>
          <a:noFill/>
          <a:ln w="19050">
            <a:solidFill>
              <a:srgbClr val="8898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Challenge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Solution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D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54864" cy="7498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Inter-service communication without tight coupling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51960" y="155448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8B3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37760" y="155448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BEB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937760" y="1554480"/>
            <a:ext cx="54864" cy="7498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74920" y="15544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YARP gateway acts as a single entry point; services communicate only via well-defined HTTP API contracts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39319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FAD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404872"/>
            <a:ext cx="54864" cy="7498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40487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cabin overbooking across concurrent requests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2404872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8B3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937760" y="2404872"/>
            <a:ext cx="39319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ABEB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37760" y="2404872"/>
            <a:ext cx="54864" cy="7498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40487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CabinService manages real-time seat availability with atomic updates to ensure consistency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255264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D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255264"/>
            <a:ext cx="54864" cy="7498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255264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all microservices without duplicating auth logic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3255264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8B3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37760" y="3255264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BEB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937760" y="3255264"/>
            <a:ext cx="54864" cy="7498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74920" y="3255264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JWT validation at the gateway layer — downstream services trust the forwarded token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105656"/>
            <a:ext cx="39319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FAD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74320" y="4105656"/>
            <a:ext cx="54864" cy="7498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4105656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separate databases per service during development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4105656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8B3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937760" y="4105656"/>
            <a:ext cx="39319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ABEB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937760" y="4105656"/>
            <a:ext cx="54864" cy="7498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74920" y="4105656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migrations per service with SQL Express — lightweight, file-based, easy to reset and version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&amp;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91440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1247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49047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cross-platform mobile app (iOS &amp; Android) using React Native or .NET MAUI, connecting to the same microservices via the existing API gateway.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914400" cy="1188720"/>
          </a:xfrm>
          <a:prstGeom prst="rect">
            <a:avLst/>
          </a:prstGeom>
          <a:solidFill>
            <a:srgbClr val="1E5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051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11247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149047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SignalR or a message broker (RabbitMQ / Azure Service Bus) to push booking confirmations, payment receipts, and itinerary updates in real time.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914400" cy="118872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4320" y="2971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24505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Recommendations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28163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suggest cruise trips and cabin types based on customer booking history, preferences, and seasonal trends.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914400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54880" y="2971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24505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&amp; Kubernetes 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28163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Docker Compose to Kubernetes (AKS / EKS) with auto-scaling, load balancing, and CI/CD pipelines via GitHub Actions or Azure DevOps.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914400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4320" y="37033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74320" y="4297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80160" y="37764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41422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Operator-facing dashboard with real-time booking analytics, revenue tracking, cabin occupancy rates, and trip popularity metrics using Power BI or Grafana.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7033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54880" y="3703320"/>
            <a:ext cx="914400" cy="11887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0" y="37033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754880" y="4297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37764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1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Support Chat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760720" y="41422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 AI chatbot (powered by OpenAI / Azure Bot Service) to handle booking queries, cancellations, and FAQs without human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E5FA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766560" y="2651760"/>
            <a:ext cx="210312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20040"/>
            <a:ext cx="178308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320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9144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65760" y="1755648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Cruise Booking System demonstrates a production-grade microservices approach to building scalable travel platforms. Each service is independently owned, deployable, and testable — delivering both technical excellence and business value.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9260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independent microservices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47472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00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gateway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402336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 isolation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80560" y="29260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54880" y="2834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80560" y="347472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7548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API documentation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480560" y="402336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75488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internal architecture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31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chemeClr val="bg1"/>
                </a:solidFill>
              </a:rPr>
              <a:t>ChaloSamundar</a:t>
            </a:r>
            <a:r>
              <a:rPr lang="en-US" sz="1600" dirty="0">
                <a:solidFill>
                  <a:schemeClr val="bg1"/>
                </a:solidFill>
              </a:rPr>
              <a:t>·  Capgemini  ·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1074</Words>
  <Application>Microsoft Office PowerPoint</Application>
  <PresentationFormat>On-screen Show (16:9)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Cruise Booking System</dc:title>
  <dc:subject>PptxGenJS Presentation</dc:subject>
  <dc:creator>Capgemini</dc:creator>
  <cp:lastModifiedBy>Gurnoor Oberoi</cp:lastModifiedBy>
  <cp:revision>1</cp:revision>
  <dcterms:created xsi:type="dcterms:W3CDTF">2026-05-01T22:08:23Z</dcterms:created>
  <dcterms:modified xsi:type="dcterms:W3CDTF">2026-05-01T23:46:26Z</dcterms:modified>
</cp:coreProperties>
</file>